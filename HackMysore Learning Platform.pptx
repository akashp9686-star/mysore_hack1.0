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42.png" Type="http://schemas.openxmlformats.org/officeDocument/2006/relationships/image"/><Relationship Id="rId15" Target="../media/image43.png" Type="http://schemas.openxmlformats.org/officeDocument/2006/relationships/image"/><Relationship Id="rId16" Target="../media/image44.png" Type="http://schemas.openxmlformats.org/officeDocument/2006/relationships/image"/><Relationship Id="rId17" Target="../media/image45.png" Type="http://schemas.openxmlformats.org/officeDocument/2006/relationships/image"/><Relationship Id="rId18" Target="../media/image46.png" Type="http://schemas.openxmlformats.org/officeDocument/2006/relationships/image"/><Relationship Id="rId19" Target="../media/image47.png" Type="http://schemas.openxmlformats.org/officeDocument/2006/relationships/image"/><Relationship Id="rId2" Target="../media/image30.png" Type="http://schemas.openxmlformats.org/officeDocument/2006/relationships/image"/><Relationship Id="rId20" Target="../media/image48.png" Type="http://schemas.openxmlformats.org/officeDocument/2006/relationships/image"/><Relationship Id="rId21" Target="../media/image49.png" Type="http://schemas.openxmlformats.org/officeDocument/2006/relationships/image"/><Relationship Id="rId22" Target="../media/image50.png" Type="http://schemas.openxmlformats.org/officeDocument/2006/relationships/image"/><Relationship Id="rId23" Target="../media/image51.png" Type="http://schemas.openxmlformats.org/officeDocument/2006/relationships/image"/><Relationship Id="rId24" Target="../media/image52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png" Type="http://schemas.openxmlformats.org/officeDocument/2006/relationships/image"/><Relationship Id="rId13" Target="../media/image64.png" Type="http://schemas.openxmlformats.org/officeDocument/2006/relationships/image"/><Relationship Id="rId14" Target="../media/image65.png" Type="http://schemas.openxmlformats.org/officeDocument/2006/relationships/image"/><Relationship Id="rId15" Target="../media/image66.png" Type="http://schemas.openxmlformats.org/officeDocument/2006/relationships/image"/><Relationship Id="rId16" Target="../media/image67.png" Type="http://schemas.openxmlformats.org/officeDocument/2006/relationships/image"/><Relationship Id="rId17" Target="../media/image68.png" Type="http://schemas.openxmlformats.org/officeDocument/2006/relationships/image"/><Relationship Id="rId18" Target="../media/image69.png" Type="http://schemas.openxmlformats.org/officeDocument/2006/relationships/image"/><Relationship Id="rId19" Target="../media/image70.png" Type="http://schemas.openxmlformats.org/officeDocument/2006/relationships/image"/><Relationship Id="rId2" Target="../media/image53.png" Type="http://schemas.openxmlformats.org/officeDocument/2006/relationships/image"/><Relationship Id="rId20" Target="../media/image71.png" Type="http://schemas.openxmlformats.org/officeDocument/2006/relationships/image"/><Relationship Id="rId21" Target="../media/image72.png" Type="http://schemas.openxmlformats.org/officeDocument/2006/relationships/image"/><Relationship Id="rId22" Target="../media/image7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84.png" Type="http://schemas.openxmlformats.org/officeDocument/2006/relationships/image"/><Relationship Id="rId13" Target="../media/image85.png" Type="http://schemas.openxmlformats.org/officeDocument/2006/relationships/image"/><Relationship Id="rId2" Target="../media/image74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png" Type="http://schemas.openxmlformats.org/officeDocument/2006/relationships/image"/><Relationship Id="rId4" Target="../media/image88.png" Type="http://schemas.openxmlformats.org/officeDocument/2006/relationships/image"/><Relationship Id="rId5" Target="../media/image8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73598" y="1705390"/>
            <a:ext cx="11769072" cy="7728915"/>
          </a:xfrm>
          <a:custGeom>
            <a:avLst/>
            <a:gdLst/>
            <a:ahLst/>
            <a:cxnLst/>
            <a:rect r="r" b="b" t="t" l="l"/>
            <a:pathLst>
              <a:path h="7728915" w="11769072">
                <a:moveTo>
                  <a:pt x="0" y="0"/>
                </a:moveTo>
                <a:lnTo>
                  <a:pt x="11769072" y="0"/>
                </a:lnTo>
                <a:lnTo>
                  <a:pt x="11769072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0622" y="8352038"/>
            <a:ext cx="6967378" cy="1934962"/>
          </a:xfrm>
          <a:custGeom>
            <a:avLst/>
            <a:gdLst/>
            <a:ahLst/>
            <a:cxnLst/>
            <a:rect r="r" b="b" t="t" l="l"/>
            <a:pathLst>
              <a:path h="1934962" w="6967378">
                <a:moveTo>
                  <a:pt x="0" y="0"/>
                </a:moveTo>
                <a:lnTo>
                  <a:pt x="6967378" y="0"/>
                </a:lnTo>
                <a:lnTo>
                  <a:pt x="696737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8096" y="1790298"/>
            <a:ext cx="9180576" cy="122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4"/>
              </a:lnSpc>
            </a:pPr>
            <a:r>
              <a:rPr lang="en-US" sz="9164" spc="-27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HackMysore 1.0 —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564382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96" y="6282935"/>
            <a:ext cx="5394960" cy="170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 spc="-9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focused MVP for detecting learning gaps and guiding the next step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096" y="2997062"/>
            <a:ext cx="9034272" cy="232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924" spc="-267" b="true">
                <a:solidFill>
                  <a:srgbClr val="00998C"/>
                </a:solidFill>
                <a:latin typeface="Roboto Bold"/>
                <a:ea typeface="Roboto Bold"/>
                <a:cs typeface="Roboto Bold"/>
                <a:sym typeface="Roboto Bold"/>
              </a:rPr>
              <a:t>Personalized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1110" y="207708"/>
            <a:ext cx="11976890" cy="10079292"/>
          </a:xfrm>
          <a:custGeom>
            <a:avLst/>
            <a:gdLst/>
            <a:ahLst/>
            <a:cxnLst/>
            <a:rect r="r" b="b" t="t" l="l"/>
            <a:pathLst>
              <a:path h="10079292" w="11976890">
                <a:moveTo>
                  <a:pt x="0" y="0"/>
                </a:moveTo>
                <a:lnTo>
                  <a:pt x="11976890" y="0"/>
                </a:lnTo>
                <a:lnTo>
                  <a:pt x="11976890" y="10079292"/>
                </a:lnTo>
                <a:lnTo>
                  <a:pt x="0" y="10079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9264" y="1341709"/>
            <a:ext cx="8595360" cy="21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780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Students progress at different paces;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264" y="3501979"/>
            <a:ext cx="6419088" cy="211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7809" b="true">
                <a:solidFill>
                  <a:srgbClr val="00C4CC"/>
                </a:solidFill>
                <a:latin typeface="Roboto Bold"/>
                <a:ea typeface="Roboto Bold"/>
                <a:cs typeface="Roboto Bold"/>
                <a:sym typeface="Roboto Bold"/>
              </a:rPr>
              <a:t>learning gaps are hidden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5783021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9264" y="6466060"/>
            <a:ext cx="6492240" cy="88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General lesson or score may not reveal the exact concept causing difficulty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9264" y="7803370"/>
            <a:ext cx="6547104" cy="88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Facilitators need clear signals to know when and where to intervene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960" y="735033"/>
            <a:ext cx="12783312" cy="1902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7380" spc="-14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Personalized next steps based on assessment </a:t>
            </a:r>
            <a:r>
              <a:rPr lang="en-US" sz="7380" spc="-147" b="true">
                <a:solidFill>
                  <a:srgbClr val="4AC0C0"/>
                </a:solidFill>
                <a:latin typeface="Roboto Bold"/>
                <a:ea typeface="Roboto Bold"/>
                <a:cs typeface="Roboto Bold"/>
                <a:sym typeface="Roboto Bold"/>
              </a:rPr>
              <a:t>evidence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1542230" cy="448211"/>
          </a:xfrm>
          <a:custGeom>
            <a:avLst/>
            <a:gdLst/>
            <a:ahLst/>
            <a:cxnLst/>
            <a:rect r="r" b="b" t="t" l="l"/>
            <a:pathLst>
              <a:path h="448211" w="1542230">
                <a:moveTo>
                  <a:pt x="0" y="0"/>
                </a:moveTo>
                <a:lnTo>
                  <a:pt x="1542230" y="0"/>
                </a:lnTo>
                <a:lnTo>
                  <a:pt x="154223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2768" y="4480536"/>
            <a:ext cx="932688" cy="88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6625" spc="-132" b="true">
                <a:solidFill>
                  <a:srgbClr val="4AC0C0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259464" y="3640352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7632" y="5842832"/>
            <a:ext cx="1499616" cy="35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2659" spc="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IDENTIFY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7632" y="6340011"/>
            <a:ext cx="3218688" cy="124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Assess performance</a:t>
            </a:r>
          </a:p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 pinpoint the concept</a:t>
            </a:r>
          </a:p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that needs strengthening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54842" y="4493047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43216" y="4398331"/>
            <a:ext cx="1133856" cy="107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2"/>
              </a:lnSpc>
            </a:pPr>
            <a:r>
              <a:rPr lang="en-US" sz="8032" spc="-160" b="true">
                <a:solidFill>
                  <a:srgbClr val="4AC0C0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3640352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443216" y="5836956"/>
            <a:ext cx="1682496" cy="36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b="true" sz="2691" spc="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PRACTICE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43216" y="6340011"/>
            <a:ext cx="3163824" cy="124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Deliver targeted practice</a:t>
            </a:r>
          </a:p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 support focused on</a:t>
            </a:r>
          </a:p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that concept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528440" y="4493047"/>
            <a:ext cx="1323474" cy="655919"/>
          </a:xfrm>
          <a:custGeom>
            <a:avLst/>
            <a:gdLst/>
            <a:ahLst/>
            <a:cxnLst/>
            <a:rect r="r" b="b" t="t" l="l"/>
            <a:pathLst>
              <a:path h="655919" w="1323474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30784" y="4398331"/>
            <a:ext cx="1133856" cy="107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2"/>
              </a:lnSpc>
            </a:pPr>
            <a:r>
              <a:rPr lang="en-US" sz="8032" spc="-160" b="true">
                <a:solidFill>
                  <a:srgbClr val="4AC0C0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61330" y="3640352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130784" y="5836956"/>
            <a:ext cx="1133856" cy="36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b="true" sz="2691" spc="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CHECK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30784" y="6340011"/>
            <a:ext cx="2670048" cy="124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Reassess to confirm</a:t>
            </a:r>
          </a:p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improvement before</a:t>
            </a:r>
          </a:p>
          <a:p>
            <a:pPr algn="l">
              <a:lnSpc>
                <a:spcPts val="3338"/>
              </a:lnSpc>
            </a:pPr>
            <a:r>
              <a:rPr lang="en-US" sz="2384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moving forward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040708" y="8352038"/>
            <a:ext cx="12644096" cy="1300906"/>
          </a:xfrm>
          <a:custGeom>
            <a:avLst/>
            <a:gdLst/>
            <a:ahLst/>
            <a:cxnLst/>
            <a:rect r="r" b="b" t="t" l="l"/>
            <a:pathLst>
              <a:path h="1300906" w="12644096">
                <a:moveTo>
                  <a:pt x="0" y="0"/>
                </a:moveTo>
                <a:lnTo>
                  <a:pt x="12644096" y="0"/>
                </a:lnTo>
                <a:lnTo>
                  <a:pt x="1264409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566160" y="8821121"/>
            <a:ext cx="11521440" cy="38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b="true" sz="2912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Personalized, evidence-driven guidance. </a:t>
            </a:r>
            <a:r>
              <a:rPr lang="en-US" b="true" sz="2912" spc="-58">
                <a:solidFill>
                  <a:srgbClr val="4AC0C0"/>
                </a:solidFill>
                <a:latin typeface="Roboto Bold"/>
                <a:ea typeface="Roboto Bold"/>
                <a:cs typeface="Roboto Bold"/>
                <a:sym typeface="Roboto Bold"/>
              </a:rPr>
              <a:t>Not generic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412726"/>
            <a:ext cx="9491472" cy="108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9"/>
              </a:lnSpc>
            </a:pPr>
            <a:r>
              <a:rPr lang="en-US" sz="6306" spc="-18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Adaptive Learning Loop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497682"/>
            <a:ext cx="1760986" cy="218640"/>
          </a:xfrm>
          <a:custGeom>
            <a:avLst/>
            <a:gdLst/>
            <a:ahLst/>
            <a:cxnLst/>
            <a:rect r="r" b="b" t="t" l="l"/>
            <a:pathLst>
              <a:path h="218640" w="1760986">
                <a:moveTo>
                  <a:pt x="0" y="0"/>
                </a:moveTo>
                <a:lnTo>
                  <a:pt x="1760986" y="0"/>
                </a:lnTo>
                <a:lnTo>
                  <a:pt x="176098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98574" y="2569017"/>
            <a:ext cx="1968804" cy="1289974"/>
          </a:xfrm>
          <a:custGeom>
            <a:avLst/>
            <a:gdLst/>
            <a:ahLst/>
            <a:cxnLst/>
            <a:rect r="r" b="b" t="t" l="l"/>
            <a:pathLst>
              <a:path h="1289974" w="196880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03196" y="3640352"/>
            <a:ext cx="3937608" cy="2153601"/>
          </a:xfrm>
          <a:custGeom>
            <a:avLst/>
            <a:gdLst/>
            <a:ahLst/>
            <a:cxnLst/>
            <a:rect r="r" b="b" t="t" l="l"/>
            <a:pathLst>
              <a:path h="2153601" w="3937608">
                <a:moveTo>
                  <a:pt x="0" y="0"/>
                </a:moveTo>
                <a:lnTo>
                  <a:pt x="3937608" y="0"/>
                </a:lnTo>
                <a:lnTo>
                  <a:pt x="393760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35808" y="3983614"/>
            <a:ext cx="694944" cy="82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</a:pPr>
            <a:r>
              <a:rPr lang="en-US" sz="4738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68496" y="4153298"/>
            <a:ext cx="841248" cy="43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47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Adapt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68496" y="4820985"/>
            <a:ext cx="2267712" cy="54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7"/>
              </a:lnSpc>
            </a:pPr>
            <a:r>
              <a:rPr lang="en-US" sz="15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 updates progress and plans next steps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478220" y="5783021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03196" y="6209369"/>
            <a:ext cx="3937608" cy="2153601"/>
          </a:xfrm>
          <a:custGeom>
            <a:avLst/>
            <a:gdLst/>
            <a:ahLst/>
            <a:cxnLst/>
            <a:rect r="r" b="b" t="t" l="l"/>
            <a:pathLst>
              <a:path h="2153601" w="3937608">
                <a:moveTo>
                  <a:pt x="0" y="0"/>
                </a:moveTo>
                <a:lnTo>
                  <a:pt x="3937608" y="0"/>
                </a:lnTo>
                <a:lnTo>
                  <a:pt x="393760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35808" y="6514216"/>
            <a:ext cx="694944" cy="82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</a:pPr>
            <a:r>
              <a:rPr lang="en-US" sz="4738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68496" y="6698522"/>
            <a:ext cx="1280160" cy="40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33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Reassess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68496" y="7351587"/>
            <a:ext cx="2322576" cy="545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7"/>
              </a:lnSpc>
            </a:pPr>
            <a:r>
              <a:rPr lang="en-US" sz="15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Student attempts focused assessment again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998574" y="8133399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56440" y="1924030"/>
            <a:ext cx="4156364" cy="1934962"/>
          </a:xfrm>
          <a:custGeom>
            <a:avLst/>
            <a:gdLst/>
            <a:ahLst/>
            <a:cxnLst/>
            <a:rect r="r" b="b" t="t" l="l"/>
            <a:pathLst>
              <a:path h="1934962" w="4156364">
                <a:moveTo>
                  <a:pt x="0" y="0"/>
                </a:moveTo>
                <a:lnTo>
                  <a:pt x="4156364" y="0"/>
                </a:lnTo>
                <a:lnTo>
                  <a:pt x="415636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24928" y="2208199"/>
            <a:ext cx="512064" cy="5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</a:pPr>
            <a:r>
              <a:rPr lang="en-US" sz="3502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66176" y="2245700"/>
            <a:ext cx="1225296" cy="43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43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Measure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66176" y="2887486"/>
            <a:ext cx="2414016" cy="60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Student answers questions to gather data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883110" y="2569017"/>
            <a:ext cx="2187560" cy="1289974"/>
          </a:xfrm>
          <a:custGeom>
            <a:avLst/>
            <a:gdLst/>
            <a:ahLst/>
            <a:cxnLst/>
            <a:rect r="r" b="b" t="t" l="l"/>
            <a:pathLst>
              <a:path h="1289974" w="2187560">
                <a:moveTo>
                  <a:pt x="0" y="0"/>
                </a:moveTo>
                <a:lnTo>
                  <a:pt x="2187560" y="0"/>
                </a:lnTo>
                <a:lnTo>
                  <a:pt x="218756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20622" y="3640352"/>
            <a:ext cx="3926670" cy="2153601"/>
          </a:xfrm>
          <a:custGeom>
            <a:avLst/>
            <a:gdLst/>
            <a:ahLst/>
            <a:cxnLst/>
            <a:rect r="r" b="b" t="t" l="l"/>
            <a:pathLst>
              <a:path h="2153601" w="3926670">
                <a:moveTo>
                  <a:pt x="0" y="0"/>
                </a:moveTo>
                <a:lnTo>
                  <a:pt x="3926670" y="0"/>
                </a:lnTo>
                <a:lnTo>
                  <a:pt x="3926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667744" y="3983614"/>
            <a:ext cx="694944" cy="82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</a:pPr>
            <a:r>
              <a:rPr lang="en-US" sz="4738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0432" y="4811938"/>
            <a:ext cx="1792224" cy="55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5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 identifies patterns of struggle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923818" y="5564382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320622" y="6209369"/>
            <a:ext cx="3926670" cy="2153601"/>
          </a:xfrm>
          <a:custGeom>
            <a:avLst/>
            <a:gdLst/>
            <a:ahLst/>
            <a:cxnLst/>
            <a:rect r="r" b="b" t="t" l="l"/>
            <a:pathLst>
              <a:path h="2153601" w="3926670">
                <a:moveTo>
                  <a:pt x="0" y="0"/>
                </a:moveTo>
                <a:lnTo>
                  <a:pt x="3926670" y="0"/>
                </a:lnTo>
                <a:lnTo>
                  <a:pt x="3926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667744" y="6514216"/>
            <a:ext cx="694944" cy="82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</a:pPr>
            <a:r>
              <a:rPr lang="en-US" sz="4738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00432" y="6683900"/>
            <a:ext cx="1645920" cy="43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47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Understand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00432" y="7342540"/>
            <a:ext cx="1865376" cy="55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5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Pinpoint the specific weak concept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883110" y="8133399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956440" y="7925691"/>
            <a:ext cx="4156364" cy="1934962"/>
          </a:xfrm>
          <a:custGeom>
            <a:avLst/>
            <a:gdLst/>
            <a:ahLst/>
            <a:cxnLst/>
            <a:rect r="r" b="b" t="t" l="l"/>
            <a:pathLst>
              <a:path h="1934962" w="4156364">
                <a:moveTo>
                  <a:pt x="0" y="0"/>
                </a:moveTo>
                <a:lnTo>
                  <a:pt x="4156364" y="0"/>
                </a:lnTo>
                <a:lnTo>
                  <a:pt x="415636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351776" y="8077840"/>
            <a:ext cx="694944" cy="82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3"/>
              </a:lnSpc>
            </a:pPr>
            <a:r>
              <a:rPr lang="en-US" sz="4738" b="true">
                <a:solidFill>
                  <a:srgbClr val="00C2CB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66176" y="8247968"/>
            <a:ext cx="1353312" cy="43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Intervene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66176" y="8905236"/>
            <a:ext cx="2322576" cy="565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16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 targeted practice or teacher support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00432" y="4148720"/>
            <a:ext cx="950976" cy="44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54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Detect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0352" y="784764"/>
            <a:ext cx="12746736" cy="81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7"/>
              </a:lnSpc>
            </a:pPr>
            <a:r>
              <a:rPr lang="en-US" sz="615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Student Journey: Algebra Example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142670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960" y="2680160"/>
            <a:ext cx="512064" cy="47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3514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3347196"/>
            <a:ext cx="1664208" cy="5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Rahul takes diagnostic test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285339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3196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1952" y="2142670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91840" y="2680160"/>
            <a:ext cx="512064" cy="47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3514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1840" y="3348571"/>
            <a:ext cx="1133856" cy="93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Repeated errors recorded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259464" y="4493047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98574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17330" y="2142670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50992" y="2680160"/>
            <a:ext cx="512064" cy="47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3514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50992" y="3375545"/>
            <a:ext cx="1609344" cy="124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“Variables on Both Sides” identified as weak concept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873598" y="4711687"/>
            <a:ext cx="1312536" cy="1508614"/>
          </a:xfrm>
          <a:custGeom>
            <a:avLst/>
            <a:gdLst/>
            <a:ahLst/>
            <a:cxnLst/>
            <a:rect r="r" b="b" t="t" l="l"/>
            <a:pathLst>
              <a:path h="1508614" w="1312536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612708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831464" y="2142670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193024" y="3364969"/>
            <a:ext cx="1609344" cy="90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9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Target practice recommended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268976" y="4711687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008086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26842" y="2142670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661904" y="3390891"/>
            <a:ext cx="1792224" cy="8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3"/>
              </a:lnSpc>
            </a:pPr>
            <a:r>
              <a:rPr lang="en-US" sz="18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Teacher support if struggles continue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64354" y="4493047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403464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622220" y="2142670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130784" y="2680160"/>
            <a:ext cx="512064" cy="47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3514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30784" y="3358128"/>
            <a:ext cx="1536192" cy="57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3"/>
              </a:lnSpc>
            </a:pPr>
            <a:r>
              <a:rPr lang="en-US" sz="189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Target reassessment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278488" y="4285339"/>
            <a:ext cx="1093780" cy="1934962"/>
          </a:xfrm>
          <a:custGeom>
            <a:avLst/>
            <a:gdLst/>
            <a:ahLst/>
            <a:cxnLst/>
            <a:rect r="r" b="b" t="t" l="l"/>
            <a:pathLst>
              <a:path h="1934962" w="1093780">
                <a:moveTo>
                  <a:pt x="0" y="0"/>
                </a:moveTo>
                <a:lnTo>
                  <a:pt x="1093780" y="0"/>
                </a:lnTo>
                <a:lnTo>
                  <a:pt x="109378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798842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236354" y="2142670"/>
            <a:ext cx="2406316" cy="4296271"/>
          </a:xfrm>
          <a:custGeom>
            <a:avLst/>
            <a:gdLst/>
            <a:ahLst/>
            <a:cxnLst/>
            <a:rect r="r" b="b" t="t" l="l"/>
            <a:pathLst>
              <a:path h="4296271" w="2406316">
                <a:moveTo>
                  <a:pt x="0" y="0"/>
                </a:moveTo>
                <a:lnTo>
                  <a:pt x="2406316" y="0"/>
                </a:lnTo>
                <a:lnTo>
                  <a:pt x="2406316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5544800" y="2680160"/>
            <a:ext cx="512064" cy="47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3514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544800" y="3406934"/>
            <a:ext cx="1792224" cy="119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98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Progress &amp; next actions shown on facilitator dashboard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5455110" y="4711687"/>
            <a:ext cx="1750048" cy="1508614"/>
          </a:xfrm>
          <a:custGeom>
            <a:avLst/>
            <a:gdLst/>
            <a:ahLst/>
            <a:cxnLst/>
            <a:rect r="r" b="b" t="t" l="l"/>
            <a:pathLst>
              <a:path h="1508614" w="1750048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785616" y="6780604"/>
            <a:ext cx="1353312" cy="34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25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BEFORE: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85616" y="7207103"/>
            <a:ext cx="1865376" cy="94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3"/>
              </a:lnSpc>
            </a:pPr>
            <a:r>
              <a:rPr lang="en-US" sz="7123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43%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785616" y="8128201"/>
            <a:ext cx="1353312" cy="34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25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785616" y="8596161"/>
            <a:ext cx="1975104" cy="28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023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(demo scenario)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6311110" y="7280704"/>
            <a:ext cx="5228268" cy="655919"/>
          </a:xfrm>
          <a:custGeom>
            <a:avLst/>
            <a:gdLst/>
            <a:ahLst/>
            <a:cxnLst/>
            <a:rect r="r" b="b" t="t" l="l"/>
            <a:pathLst>
              <a:path h="655919" w="5228268">
                <a:moveTo>
                  <a:pt x="0" y="0"/>
                </a:moveTo>
                <a:lnTo>
                  <a:pt x="5228268" y="0"/>
                </a:lnTo>
                <a:lnTo>
                  <a:pt x="5228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1996928" y="6780604"/>
            <a:ext cx="1133856" cy="34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25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AFTER: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96928" y="7207103"/>
            <a:ext cx="1865376" cy="94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3"/>
              </a:lnSpc>
            </a:pPr>
            <a:r>
              <a:rPr lang="en-US" sz="7123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80%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96928" y="8128201"/>
            <a:ext cx="1353312" cy="34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25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96928" y="8596161"/>
            <a:ext cx="1975104" cy="28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023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(demo scenario)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426574" y="9204733"/>
            <a:ext cx="17216096" cy="229572"/>
          </a:xfrm>
          <a:custGeom>
            <a:avLst/>
            <a:gdLst/>
            <a:ahLst/>
            <a:cxnLst/>
            <a:rect r="r" b="b" t="t" l="l"/>
            <a:pathLst>
              <a:path h="229572" w="17216096">
                <a:moveTo>
                  <a:pt x="0" y="0"/>
                </a:moveTo>
                <a:lnTo>
                  <a:pt x="17216096" y="0"/>
                </a:lnTo>
                <a:lnTo>
                  <a:pt x="17216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5138928" y="9594000"/>
            <a:ext cx="7754112" cy="28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3"/>
              </a:lnSpc>
            </a:pPr>
            <a:r>
              <a:rPr lang="en-US" b="true" sz="2023" spc="101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ILLUSTRATIVE EXAMPLE ONLY. NOT MEASURED RESULTS.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193024" y="2680160"/>
            <a:ext cx="512064" cy="47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3514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61904" y="2680160"/>
            <a:ext cx="512064" cy="47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sz="3514" b="true">
                <a:solidFill>
                  <a:srgbClr val="48C8B6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520" y="887909"/>
            <a:ext cx="10808208" cy="114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752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How the Platform Works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350377"/>
            <a:ext cx="2406316" cy="4088563"/>
          </a:xfrm>
          <a:custGeom>
            <a:avLst/>
            <a:gdLst/>
            <a:ahLst/>
            <a:cxnLst/>
            <a:rect r="r" b="b" t="t" l="l"/>
            <a:pathLst>
              <a:path h="4088563" w="2406316">
                <a:moveTo>
                  <a:pt x="0" y="0"/>
                </a:moveTo>
                <a:lnTo>
                  <a:pt x="2406316" y="0"/>
                </a:lnTo>
                <a:lnTo>
                  <a:pt x="240631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1598" y="2995365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7008" y="4552491"/>
            <a:ext cx="1042416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Student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21952" y="364035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78220" y="2350377"/>
            <a:ext cx="2406316" cy="4088563"/>
          </a:xfrm>
          <a:custGeom>
            <a:avLst/>
            <a:gdLst/>
            <a:ahLst/>
            <a:cxnLst/>
            <a:rect r="r" b="b" t="t" l="l"/>
            <a:pathLst>
              <a:path h="4088563" w="2406316">
                <a:moveTo>
                  <a:pt x="0" y="0"/>
                </a:moveTo>
                <a:lnTo>
                  <a:pt x="2406316" y="0"/>
                </a:lnTo>
                <a:lnTo>
                  <a:pt x="240631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15732" y="3214004"/>
            <a:ext cx="1312536" cy="863627"/>
          </a:xfrm>
          <a:custGeom>
            <a:avLst/>
            <a:gdLst/>
            <a:ahLst/>
            <a:cxnLst/>
            <a:rect r="r" b="b" t="t" l="l"/>
            <a:pathLst>
              <a:path h="863627" w="1312536">
                <a:moveTo>
                  <a:pt x="0" y="0"/>
                </a:moveTo>
                <a:lnTo>
                  <a:pt x="1312536" y="0"/>
                </a:lnTo>
                <a:lnTo>
                  <a:pt x="131253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54842" y="364035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11110" y="2350377"/>
            <a:ext cx="2406316" cy="4088563"/>
          </a:xfrm>
          <a:custGeom>
            <a:avLst/>
            <a:gdLst/>
            <a:ahLst/>
            <a:cxnLst/>
            <a:rect r="r" b="b" t="t" l="l"/>
            <a:pathLst>
              <a:path h="4088563" w="2406316">
                <a:moveTo>
                  <a:pt x="0" y="0"/>
                </a:moveTo>
                <a:lnTo>
                  <a:pt x="2406316" y="0"/>
                </a:lnTo>
                <a:lnTo>
                  <a:pt x="240631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56440" y="2995365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66560" y="4577811"/>
            <a:ext cx="1389888" cy="7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REST API / </a:t>
            </a:r>
            <a:r>
              <a:rPr lang="en-US" sz="2299" b="true">
                <a:solidFill>
                  <a:srgbClr val="4ADEDD"/>
                </a:solidFill>
                <a:latin typeface="Roboto Bold"/>
                <a:ea typeface="Roboto Bold"/>
                <a:cs typeface="Roboto Bold"/>
                <a:sym typeface="Roboto Bold"/>
              </a:rPr>
              <a:t>JSON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487732" y="3640352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2350377"/>
            <a:ext cx="2395378" cy="4088563"/>
          </a:xfrm>
          <a:custGeom>
            <a:avLst/>
            <a:gdLst/>
            <a:ahLst/>
            <a:cxnLst/>
            <a:rect r="r" b="b" t="t" l="l"/>
            <a:pathLst>
              <a:path h="4088563" w="2395378">
                <a:moveTo>
                  <a:pt x="0" y="0"/>
                </a:moveTo>
                <a:lnTo>
                  <a:pt x="2395378" y="0"/>
                </a:lnTo>
                <a:lnTo>
                  <a:pt x="2395378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89330" y="2995365"/>
            <a:ext cx="1323474" cy="1082267"/>
          </a:xfrm>
          <a:custGeom>
            <a:avLst/>
            <a:gdLst/>
            <a:ahLst/>
            <a:cxnLst/>
            <a:rect r="r" b="b" t="t" l="l"/>
            <a:pathLst>
              <a:path h="1082267" w="1323474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28440" y="364035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84708" y="2350377"/>
            <a:ext cx="2625072" cy="4088563"/>
          </a:xfrm>
          <a:custGeom>
            <a:avLst/>
            <a:gdLst/>
            <a:ahLst/>
            <a:cxnLst/>
            <a:rect r="r" b="b" t="t" l="l"/>
            <a:pathLst>
              <a:path h="4088563" w="2625072">
                <a:moveTo>
                  <a:pt x="0" y="0"/>
                </a:moveTo>
                <a:lnTo>
                  <a:pt x="2625072" y="0"/>
                </a:lnTo>
                <a:lnTo>
                  <a:pt x="262507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59732" y="2995365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80086" y="364035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236354" y="2350377"/>
            <a:ext cx="2406316" cy="4088563"/>
          </a:xfrm>
          <a:custGeom>
            <a:avLst/>
            <a:gdLst/>
            <a:ahLst/>
            <a:cxnLst/>
            <a:rect r="r" b="b" t="t" l="l"/>
            <a:pathLst>
              <a:path h="4088563" w="2406316">
                <a:moveTo>
                  <a:pt x="0" y="0"/>
                </a:moveTo>
                <a:lnTo>
                  <a:pt x="2406316" y="0"/>
                </a:lnTo>
                <a:lnTo>
                  <a:pt x="240631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892622" y="2995365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745968" y="4578893"/>
            <a:ext cx="1389888" cy="73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24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Facilitator Dashboard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925244" y="5783021"/>
            <a:ext cx="4790756" cy="1934962"/>
          </a:xfrm>
          <a:custGeom>
            <a:avLst/>
            <a:gdLst/>
            <a:ahLst/>
            <a:cxnLst/>
            <a:rect r="r" b="b" t="t" l="l"/>
            <a:pathLst>
              <a:path h="1934962" w="4790756">
                <a:moveTo>
                  <a:pt x="0" y="0"/>
                </a:moveTo>
                <a:lnTo>
                  <a:pt x="4790756" y="0"/>
                </a:lnTo>
                <a:lnTo>
                  <a:pt x="479075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393952" y="7062064"/>
            <a:ext cx="3500096" cy="2798589"/>
          </a:xfrm>
          <a:custGeom>
            <a:avLst/>
            <a:gdLst/>
            <a:ahLst/>
            <a:cxnLst/>
            <a:rect r="r" b="b" t="t" l="l"/>
            <a:pathLst>
              <a:path h="2798589" w="3500096">
                <a:moveTo>
                  <a:pt x="0" y="0"/>
                </a:moveTo>
                <a:lnTo>
                  <a:pt x="3500096" y="0"/>
                </a:lnTo>
                <a:lnTo>
                  <a:pt x="350009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487732" y="7499343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503920" y="8620602"/>
            <a:ext cx="1335024" cy="7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Service</a:t>
            </a:r>
          </a:p>
          <a:p>
            <a:pPr algn="ctr">
              <a:lnSpc>
                <a:spcPts val="2989"/>
              </a:lnSpc>
            </a:pPr>
            <a:r>
              <a:rPr lang="en-US" sz="2299" b="true">
                <a:solidFill>
                  <a:srgbClr val="4ADEDD"/>
                </a:solidFill>
                <a:latin typeface="Roboto Bold"/>
                <a:ea typeface="Roboto Bold"/>
                <a:cs typeface="Roboto Bold"/>
                <a:sym typeface="Roboto Bold"/>
              </a:rPr>
              <a:t>Optional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94592" y="7779964"/>
            <a:ext cx="3163824" cy="117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is optional;</a:t>
            </a:r>
          </a:p>
          <a:p>
            <a:pPr algn="l">
              <a:lnSpc>
                <a:spcPts val="3183"/>
              </a:lnSpc>
            </a:pPr>
            <a:r>
              <a:rPr lang="en-US" sz="2274">
                <a:solidFill>
                  <a:srgbClr val="4ADEDD"/>
                </a:solidFill>
                <a:latin typeface="Roboto"/>
                <a:ea typeface="Roboto"/>
                <a:cs typeface="Roboto"/>
                <a:sym typeface="Roboto"/>
              </a:rPr>
              <a:t>core adaptive logic functions independently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40480" y="4849437"/>
            <a:ext cx="1536192" cy="19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7"/>
              </a:lnSpc>
            </a:pPr>
            <a:r>
              <a:rPr lang="en-US" sz="117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HTML/CSS/JavaScript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23360" y="5344590"/>
            <a:ext cx="1170432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true">
                <a:solidFill>
                  <a:srgbClr val="4ADEDD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30384" y="4577811"/>
            <a:ext cx="1042416" cy="7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Python</a:t>
            </a:r>
          </a:p>
          <a:p>
            <a:pPr algn="ctr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FastAPI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75520" y="5344590"/>
            <a:ext cx="1133856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true">
                <a:solidFill>
                  <a:srgbClr val="4ADEDD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74752" y="4286167"/>
            <a:ext cx="1261872" cy="102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SQLite</a:t>
            </a:r>
          </a:p>
          <a:p>
            <a:pPr algn="ctr">
              <a:lnSpc>
                <a:spcPts val="2729"/>
              </a:lnSpc>
            </a:pPr>
            <a:r>
              <a:rPr lang="en-US" sz="227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Database</a:t>
            </a:r>
          </a:p>
          <a:p>
            <a:pPr algn="ctr">
              <a:lnSpc>
                <a:spcPts val="2729"/>
              </a:lnSpc>
            </a:pPr>
            <a:r>
              <a:rPr lang="en-US" sz="227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63856" y="5366357"/>
            <a:ext cx="1920240" cy="66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023" b="true">
                <a:solidFill>
                  <a:srgbClr val="4ADEDD"/>
                </a:solidFill>
                <a:latin typeface="Roboto Bold"/>
                <a:ea typeface="Roboto Bold"/>
                <a:cs typeface="Roboto Bold"/>
                <a:sym typeface="Roboto Bold"/>
              </a:rPr>
              <a:t>Adaptive Learning Engine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7552" y="495650"/>
            <a:ext cx="5596128" cy="150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4"/>
              </a:lnSpc>
            </a:pPr>
            <a:r>
              <a:rPr lang="en-US" sz="875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Hackathon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7552" y="1606646"/>
            <a:ext cx="5961888" cy="150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4"/>
              </a:lnSpc>
            </a:pPr>
            <a:r>
              <a:rPr lang="en-US" sz="8753" b="true">
                <a:solidFill>
                  <a:srgbClr val="28B0B0"/>
                </a:solidFill>
                <a:latin typeface="Roboto Bold"/>
                <a:ea typeface="Roboto Bold"/>
                <a:cs typeface="Roboto Bold"/>
                <a:sym typeface="Roboto Bold"/>
              </a:rPr>
              <a:t>MVP Scope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3214004"/>
            <a:ext cx="1750048" cy="218640"/>
          </a:xfrm>
          <a:custGeom>
            <a:avLst/>
            <a:gdLst/>
            <a:ahLst/>
            <a:cxnLst/>
            <a:rect r="r" b="b" t="t" l="l"/>
            <a:pathLst>
              <a:path h="218640" w="1750048">
                <a:moveTo>
                  <a:pt x="0" y="0"/>
                </a:moveTo>
                <a:lnTo>
                  <a:pt x="1750048" y="0"/>
                </a:lnTo>
                <a:lnTo>
                  <a:pt x="1750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086" y="3640352"/>
            <a:ext cx="448450" cy="5148966"/>
          </a:xfrm>
          <a:custGeom>
            <a:avLst/>
            <a:gdLst/>
            <a:ahLst/>
            <a:cxnLst/>
            <a:rect r="r" b="b" t="t" l="l"/>
            <a:pathLst>
              <a:path h="5148966" w="448450">
                <a:moveTo>
                  <a:pt x="0" y="0"/>
                </a:moveTo>
                <a:lnTo>
                  <a:pt x="448450" y="0"/>
                </a:lnTo>
                <a:lnTo>
                  <a:pt x="448450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1056" y="3641973"/>
            <a:ext cx="5010912" cy="47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4"/>
              </a:lnSpc>
            </a:pPr>
            <a:r>
              <a:rPr lang="en-US" sz="27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Local setup on a single machine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1056" y="4315206"/>
            <a:ext cx="696772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268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Mathematics assessment focused on Algebra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1056" y="4964736"/>
            <a:ext cx="6089904" cy="49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Saved attempts and struggle detection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1056" y="5643360"/>
            <a:ext cx="4992624" cy="4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8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Identification of weak concepts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1056" y="6302046"/>
            <a:ext cx="6345936" cy="49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Targeted intervention and reassessment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1056" y="6980670"/>
            <a:ext cx="4242816" cy="4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8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Updated progress tracking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1056" y="7649643"/>
            <a:ext cx="4700016" cy="49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Facilitator insights 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1056" y="8309173"/>
            <a:ext cx="6803136" cy="100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Prioritizes reliable end-to-end</a:t>
            </a:r>
          </a:p>
          <a:p>
            <a:pPr algn="l">
              <a:lnSpc>
                <a:spcPts val="4001"/>
              </a:lnSpc>
            </a:pPr>
            <a:r>
              <a:rPr lang="en-US" sz="28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adaptive learning loop over broad features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236354" y="0"/>
            <a:ext cx="3051646" cy="3224936"/>
          </a:xfrm>
          <a:custGeom>
            <a:avLst/>
            <a:gdLst/>
            <a:ahLst/>
            <a:cxnLst/>
            <a:rect r="r" b="b" t="t" l="l"/>
            <a:pathLst>
              <a:path h="3224936" w="3051646">
                <a:moveTo>
                  <a:pt x="0" y="0"/>
                </a:moveTo>
                <a:lnTo>
                  <a:pt x="3051646" y="0"/>
                </a:lnTo>
                <a:lnTo>
                  <a:pt x="305164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89330" y="2142670"/>
            <a:ext cx="7634584" cy="7936623"/>
          </a:xfrm>
          <a:custGeom>
            <a:avLst/>
            <a:gdLst/>
            <a:ahLst/>
            <a:cxnLst/>
            <a:rect r="r" b="b" t="t" l="l"/>
            <a:pathLst>
              <a:path h="7936623" w="7634584">
                <a:moveTo>
                  <a:pt x="0" y="0"/>
                </a:moveTo>
                <a:lnTo>
                  <a:pt x="7634584" y="0"/>
                </a:lnTo>
                <a:lnTo>
                  <a:pt x="7634584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20622" y="3214004"/>
            <a:ext cx="3270402" cy="644987"/>
          </a:xfrm>
          <a:custGeom>
            <a:avLst/>
            <a:gdLst/>
            <a:ahLst/>
            <a:cxnLst/>
            <a:rect r="r" b="b" t="t" l="l"/>
            <a:pathLst>
              <a:path h="644987" w="3270402">
                <a:moveTo>
                  <a:pt x="0" y="0"/>
                </a:moveTo>
                <a:lnTo>
                  <a:pt x="3270402" y="0"/>
                </a:lnTo>
                <a:lnTo>
                  <a:pt x="327040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65952" y="3848060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84708" y="4493047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622220" y="5356674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840976" y="6209369"/>
            <a:ext cx="2187560" cy="1300906"/>
          </a:xfrm>
          <a:custGeom>
            <a:avLst/>
            <a:gdLst/>
            <a:ahLst/>
            <a:cxnLst/>
            <a:rect r="r" b="b" t="t" l="l"/>
            <a:pathLst>
              <a:path h="1300906" w="2187560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059732" y="7280704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673866" y="3848060"/>
            <a:ext cx="2614134" cy="5159898"/>
          </a:xfrm>
          <a:custGeom>
            <a:avLst/>
            <a:gdLst/>
            <a:ahLst/>
            <a:cxnLst/>
            <a:rect r="r" b="b" t="t" l="l"/>
            <a:pathLst>
              <a:path h="5159898" w="2614134">
                <a:moveTo>
                  <a:pt x="0" y="0"/>
                </a:moveTo>
                <a:lnTo>
                  <a:pt x="2614134" y="0"/>
                </a:lnTo>
                <a:lnTo>
                  <a:pt x="2614134" y="5159897"/>
                </a:lnTo>
                <a:lnTo>
                  <a:pt x="0" y="5159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1924030"/>
            <a:ext cx="7842402" cy="8362970"/>
          </a:xfrm>
          <a:custGeom>
            <a:avLst/>
            <a:gdLst/>
            <a:ahLst/>
            <a:cxnLst/>
            <a:rect r="r" b="b" t="t" l="l"/>
            <a:pathLst>
              <a:path h="8362970" w="7842402">
                <a:moveTo>
                  <a:pt x="0" y="0"/>
                </a:moveTo>
                <a:lnTo>
                  <a:pt x="7842402" y="0"/>
                </a:lnTo>
                <a:lnTo>
                  <a:pt x="7842402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9808" y="556790"/>
            <a:ext cx="6327648" cy="121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1"/>
              </a:lnSpc>
            </a:pPr>
            <a:r>
              <a:rPr lang="en-US" sz="795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9808" y="1560946"/>
            <a:ext cx="11137392" cy="113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7466" b="true">
                <a:solidFill>
                  <a:srgbClr val="4AC8C4"/>
                </a:solidFill>
                <a:latin typeface="Roboto Bold"/>
                <a:ea typeface="Roboto Bold"/>
                <a:cs typeface="Roboto Bold"/>
                <a:sym typeface="Roboto Bold"/>
              </a:rPr>
              <a:t>(Optional Enhancements)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2842" y="2776725"/>
            <a:ext cx="448450" cy="4514911"/>
          </a:xfrm>
          <a:custGeom>
            <a:avLst/>
            <a:gdLst/>
            <a:ahLst/>
            <a:cxnLst/>
            <a:rect r="r" b="b" t="t" l="l"/>
            <a:pathLst>
              <a:path h="4514911" w="448450">
                <a:moveTo>
                  <a:pt x="0" y="0"/>
                </a:moveTo>
                <a:lnTo>
                  <a:pt x="448450" y="0"/>
                </a:lnTo>
                <a:lnTo>
                  <a:pt x="44845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10512" y="3092427"/>
            <a:ext cx="5157216" cy="5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More subjects and grade levels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0512" y="3946248"/>
            <a:ext cx="7132320" cy="5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Advanced analytics and resource providers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0512" y="4800069"/>
            <a:ext cx="5413248" cy="5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Parent notifications via Telegram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0512" y="5653890"/>
            <a:ext cx="7827264" cy="5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Stronger authentication and teacher verification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0512" y="6507711"/>
            <a:ext cx="3858768" cy="50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Production deployment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7499343"/>
            <a:ext cx="11331560" cy="2361309"/>
          </a:xfrm>
          <a:custGeom>
            <a:avLst/>
            <a:gdLst/>
            <a:ahLst/>
            <a:cxnLst/>
            <a:rect r="r" b="b" t="t" l="l"/>
            <a:pathLst>
              <a:path h="2361309" w="11331560">
                <a:moveTo>
                  <a:pt x="0" y="0"/>
                </a:moveTo>
                <a:lnTo>
                  <a:pt x="11331560" y="0"/>
                </a:lnTo>
                <a:lnTo>
                  <a:pt x="1133156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88720" y="7820975"/>
            <a:ext cx="8997696" cy="168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67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Based on actual performance, </a:t>
            </a:r>
            <a:r>
              <a:rPr lang="en-US" sz="3679" b="true">
                <a:solidFill>
                  <a:srgbClr val="4AC8C4"/>
                </a:solidFill>
                <a:latin typeface="Roboto Bold"/>
                <a:ea typeface="Roboto Bold"/>
                <a:cs typeface="Roboto Bold"/>
                <a:sym typeface="Roboto Bold"/>
              </a:rPr>
              <a:t>identify what a student is struggling with</a:t>
            </a:r>
            <a:r>
              <a:rPr lang="en-US" sz="367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and </a:t>
            </a:r>
            <a:r>
              <a:rPr lang="en-US" sz="3679" b="true">
                <a:solidFill>
                  <a:srgbClr val="4AC8C4"/>
                </a:solidFill>
                <a:latin typeface="Roboto Bold"/>
                <a:ea typeface="Roboto Bold"/>
                <a:cs typeface="Roboto Bold"/>
                <a:sym typeface="Roboto Bold"/>
              </a:rPr>
              <a:t>change</a:t>
            </a:r>
            <a:r>
              <a:rPr lang="en-US" sz="367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what happens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DAHWW6SCIUY</dc:identifier>
  <dcterms:modified xsi:type="dcterms:W3CDTF">2011-08-01T06:04:30Z</dcterms:modified>
  <cp:revision>1</cp:revision>
  <dc:title>HackMysore Learning Platform</dc:title>
</cp:coreProperties>
</file>